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4864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4864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71823" cy="5486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07040" y="237744"/>
            <a:ext cx="109728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01 / 03</a:t>
            </a:r>
            <a:endParaRPr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329184"/>
            <a:ext cx="73152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现状</a:t>
            </a:r>
            <a:r>
              <a:rPr lang="zh-CN">
                <a:ea typeface="微软雅黑" panose="020B0503020204020204" charset="-122"/>
              </a:rPr>
              <a:t>分析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0" y="32918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乐山市沙湾区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智慧医疗调研与规划汇报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41248"/>
            <a:ext cx="11064240" cy="13716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调研概况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261872"/>
            <a:ext cx="1691640" cy="658368"/>
          </a:xfrm>
          <a:prstGeom prst="rect">
            <a:avLst/>
          </a:prstGeom>
          <a:solidFill>
            <a:srgbClr val="F7F6F2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131673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2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公立医院（二甲）</a:t>
            </a:r>
            <a:endParaRPr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8296" y="1261872"/>
            <a:ext cx="1691640" cy="658368"/>
          </a:xfrm>
          <a:prstGeom prst="rect">
            <a:avLst/>
          </a:prstGeom>
          <a:solidFill>
            <a:srgbClr val="F7F6F2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68296" y="131673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5</a:t>
            </a:r>
            <a:endParaRPr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8296" y="164592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民营医院</a:t>
            </a:r>
            <a:endParaRPr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87952" y="1261872"/>
            <a:ext cx="1691640" cy="658368"/>
          </a:xfrm>
          <a:prstGeom prst="rect">
            <a:avLst/>
          </a:prstGeom>
          <a:solidFill>
            <a:srgbClr val="F7F6F2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87952" y="131673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9</a:t>
            </a:r>
            <a:endParaRPr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87952" y="164592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乡镇/社区机构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07608" y="1261872"/>
            <a:ext cx="1691640" cy="658368"/>
          </a:xfrm>
          <a:prstGeom prst="rect">
            <a:avLst/>
          </a:prstGeom>
          <a:solidFill>
            <a:srgbClr val="F7F6F2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07608" y="131673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133</a:t>
            </a:r>
            <a:endParaRPr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07608" y="164592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村卫生室</a:t>
            </a:r>
            <a:endParaRPr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827264" y="1261872"/>
            <a:ext cx="1691640" cy="658368"/>
          </a:xfrm>
          <a:prstGeom prst="rect">
            <a:avLst/>
          </a:prstGeom>
          <a:solidFill>
            <a:srgbClr val="F7F6F2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27264" y="131673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14.5万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27264" y="164592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常住人口</a:t>
            </a:r>
            <a:endParaRPr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646920" y="1261872"/>
            <a:ext cx="1691640" cy="658368"/>
          </a:xfrm>
          <a:prstGeom prst="rect">
            <a:avLst/>
          </a:prstGeom>
          <a:solidFill>
            <a:srgbClr val="F7F6F2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46920" y="131673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3万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46920" y="164592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65岁以上老人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192023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2084831"/>
            <a:ext cx="539496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" y="2139695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区级医院 — 基础系统齐全，缺平台与智能化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58368" y="2395727"/>
          <a:ext cx="530352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146304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机构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现状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缺口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区人民医院 [二甲]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HIS/LIS/EMR/PACS/手麻/移动医护等齐全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无 CDR、集成平台、BI、大数据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区中医医院 [二级]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新成立，同人民医院系统，新建 HIS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其余模块共享人民医院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区妇幼保健院 [二级]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HIS/EMR/LIS/PACS/手麻/体检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互联网医院、便民小程序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217920" y="192023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17920" y="2084831"/>
            <a:ext cx="539496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27648" y="2139695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基层机构 — 无自建系统，信息孤岛严重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327648" y="2395727"/>
          <a:ext cx="52120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维度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现状与问题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系统情况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除福禄镇外均无自建系统，依赖省统建云平台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村卫生室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133 个村卫生室无任何信息系统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数据互通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基层系统与公卫云数据不通，重复录入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转诊量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年转诊约 100+ 人（福禄镇 200+），双向转诊无反馈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信息化投入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仅福禄镇自建系统，年费约 10 万元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548640" y="3886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核心痛点</a:t>
            </a:r>
            <a:endParaRPr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4114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589405" y="4137025"/>
            <a:ext cx="584835" cy="584835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01</a:t>
            </a:r>
            <a:endParaRPr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0080" y="477316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数据孤岛</a:t>
            </a:r>
            <a:endParaRPr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00" y="50292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区级缺CDR与集成平台，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基层与公卫数据不通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319272" y="4114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359910" y="4137025"/>
            <a:ext cx="584835" cy="584835"/>
          </a:xfrm>
          <a:prstGeom prst="ellipse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02</a:t>
            </a:r>
            <a:endParaRPr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10712" y="477316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协同断层</a:t>
            </a:r>
            <a:endParaRPr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56432" y="50292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双向转诊无反馈，远程会诊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未建立，检查结果不互认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089904" y="4114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130415" y="4137025"/>
            <a:ext cx="584835" cy="584835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03</a:t>
            </a:r>
            <a:endParaRPr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181344" y="477316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基层薄弱</a:t>
            </a:r>
            <a:endParaRPr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27064" y="50292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133个村卫生室零信息化，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8个乡镇无自建系统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860536" y="4114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9901555" y="4137025"/>
            <a:ext cx="584835" cy="584835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04</a:t>
            </a:r>
            <a:endParaRPr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951976" y="477316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智慧缺失</a:t>
            </a:r>
            <a:endParaRPr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997696" y="50292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无AI辅助、无CDSS、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无BI决策，距智慧三星差距大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C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乐山市沙湾区卫生健康局</a:t>
            </a:r>
            <a:endParaRPr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7240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2026 年 6 月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4864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4864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71823" cy="5486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07040" y="237744"/>
            <a:ext cx="109728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02 / 03</a:t>
            </a:r>
            <a:endParaRPr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329184"/>
            <a:ext cx="73152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建设</a:t>
            </a:r>
            <a:r>
              <a:rPr lang="zh-CN">
                <a:ea typeface="微软雅黑" panose="020B0503020204020204" charset="-122"/>
              </a:rPr>
              <a:t>思路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0" y="32918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乐山市沙湾区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智慧医疗调研与规划汇报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41248"/>
            <a:ext cx="11064240" cy="13716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建设策略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0080" y="1280160"/>
            <a:ext cx="137160" cy="13716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12618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一期统建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286000" y="1280160"/>
            <a:ext cx="137160" cy="137160"/>
          </a:xfrm>
          <a:prstGeom prst="ellipse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68880" y="12618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二期建设</a:t>
            </a:r>
            <a:endParaRPr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931920" y="1280160"/>
            <a:ext cx="137160" cy="13716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0" y="12618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已建/利旧对接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0" y="1261872"/>
            <a:ext cx="36576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总投资量级：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XXX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 万元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1572768"/>
            <a:ext cx="5394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1572768"/>
            <a:ext cx="5394960" cy="2560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" y="1591056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区域医疗大数据平台（一期统建）</a:t>
            </a:r>
            <a:endParaRPr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" y="1865376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基础平台: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主索引与注册 · 统一认证与权限 · 总线服务 · API网关 · 信息标准管理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1792" y="210312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数据服务: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全方式采集 · 加密脱敏 · 数据治理 · 质量管理 · 完整性管理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792" y="2340864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资源中心: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基础资源库 · 医疗卫生资源库 · 电子病历库(58数据集) · 健康档案库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1792" y="2578608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集成门户: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统一门户 · 单点登录 · 机构/人员/设备管理 · 互联互通共享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456432"/>
            <a:ext cx="53949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456432"/>
            <a:ext cx="5394960" cy="256032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347472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基层服务能力提升</a:t>
            </a:r>
            <a:endParaRPr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1792" y="374904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基本医疗: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全结构化电子病历(一期) · 区域PACS+AI肺结节(一期) · 区域LIS(二期)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" y="3986784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公卫服务: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妇幼/计免/公卫(已建对接) · 健康档案统计(一期) · 村医随访系统(二期)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792" y="4224528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质量管理: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AI病历质控(一期) · 基层CDSS临床辅助决策(一期)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462272"/>
            <a:ext cx="53949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4462272"/>
            <a:ext cx="5394960" cy="2560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1792" y="448056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区域协同应用</a:t>
            </a:r>
            <a:endParaRPr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1792" y="475488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便民协同: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区域互联网医院(一期) · 电子健康卡(一期) · 统一预约/支付/查询(一期)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1792" y="4992624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医疗协同: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区域双向转诊(一期) · 处方前置审核(二期) · 区域DRG(二期) · 检查互认(市建利旧)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1792" y="5230368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管理协同: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区域心电/影像(利旧) · 消毒供应中心(一期) · HRP/物资/采购(二期) · ChatBI AI卫健监管(二期)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17920" y="1572768"/>
            <a:ext cx="5394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17920" y="1572768"/>
            <a:ext cx="5394960" cy="2560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91072" y="1591056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区级医院能力提升（电子病历5级目标）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91072" y="1865376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临床核心(二期):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门急诊/住院工作站 · 移动医护 · 临床路径 · 患者全息视图 · 业务闭环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91072" y="210312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医疗管理(一/二期):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智慧医务 · 院感/不良事件 · 护理/输血/重症 · 单病种/全病程 · CA认证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91072" y="2340864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智慧病房(二期):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床旁交互 · 移动护理 · 物联网管控 · 护士站调度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91072" y="2578608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智慧中医(二期):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智能辅助诊疗 · 治未病平台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17920" y="3456432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217920" y="3456432"/>
            <a:ext cx="5394960" cy="256032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91072" y="347472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医院集成平台 + 大数据中心（一期）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91072" y="374904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平台与数据: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医院互联互通平台 · CDR临床数据中心 · 国考绩效指标管理 · 等级医院评审指标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217920" y="4462272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217920" y="4462272"/>
            <a:ext cx="5394960" cy="2560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91072" y="448056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综合决策监管（一期统建）</a:t>
            </a:r>
            <a:endParaRPr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91072" y="4754880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监管看板: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运营监控(门诊/住院人次、均费) · 服务效能(医保/收支) · 协同监控(转诊/影像/检验) · 数据资源监控(采集/治理)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17920" y="5230368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217920" y="5230368"/>
            <a:ext cx="5394960" cy="2560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91072" y="5248656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急诊急救协同（一期）</a:t>
            </a:r>
            <a:endParaRPr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91072" y="5522976"/>
            <a:ext cx="5248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急救中心:</a:t>
            </a:r>
            <a:r>
              <a:rPr sz="8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胸痛中心 · 卒中中心 · 创伤中心 · 智慧急救平台 · 孕产/新生儿中心(二期)</a:t>
            </a:r>
            <a:endParaRPr sz="8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48640" y="5887720"/>
            <a:ext cx="11064240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目标：电子病历 5 级 + 互联互通四级甲等 + 智慧三星 —— 2028 年交付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C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乐山市沙湾区卫生健康局</a:t>
            </a:r>
            <a:endParaRPr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77240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2026 年 6 月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4864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4864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71823" cy="5486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07040" y="237744"/>
            <a:ext cx="109728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03 / 03</a:t>
            </a:r>
            <a:endParaRPr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329184"/>
            <a:ext cx="73152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建设</a:t>
            </a:r>
            <a:r>
              <a:rPr lang="zh-CN">
                <a:ea typeface="微软雅黑" panose="020B0503020204020204" charset="-122"/>
              </a:rPr>
              <a:t>费用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0" y="32918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乐山市沙湾区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智慧医疗调研与规划汇报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41248"/>
            <a:ext cx="11064240" cy="13716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投资概览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64008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智慧医疗总投资 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xxxx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 万元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72768"/>
          <a:ext cx="57607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91440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建设内容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方式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分期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预算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区域医疗大数据平台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统建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一期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含在总额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智慧医疗综合决策监管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统建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一期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含在总额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基层服务能力提升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统建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一/二期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含在总额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区级医院能力提升(含5级)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统建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一/二期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含在总额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医院集成平台+大数据中心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统建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一期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含在总额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区域协同应用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统建+利旧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  <a:cs typeface="微软雅黑" panose="020B0503020204020204" charset="-122"/>
                        </a:rPr>
                        <a:t>一/二期</a:t>
                      </a:r>
                      <a:endParaRPr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含在总额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系统接口与对接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统建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一期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含在总额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3621024"/>
            <a:ext cx="5760720" cy="256032"/>
          </a:xfrm>
          <a:prstGeom prst="rect">
            <a:avLst/>
          </a:prstGeom>
          <a:solidFill>
            <a:srgbClr val="F5F2EA"/>
          </a:solidFill>
          <a:ln w="190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63931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合计</a:t>
            </a:r>
            <a:endParaRPr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83280" y="363931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34840" y="363931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03520" y="3639312"/>
            <a:ext cx="82296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xxxx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 万元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986784"/>
            <a:ext cx="5623560" cy="365760"/>
          </a:xfrm>
          <a:prstGeom prst="rect">
            <a:avLst/>
          </a:prstGeom>
          <a:solidFill>
            <a:srgbClr val="FEFCF5"/>
          </a:solidFill>
          <a:ln w="6350">
            <a:solidFill>
              <a:srgbClr val="E5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8B69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资金说明：</a:t>
            </a:r>
            <a:r>
              <a:rPr sz="850" b="0">
                <a:solidFill>
                  <a:srgbClr val="8B69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统建部分做预算；已建/自建系统利旧对接不另计费。区人民医院新院区专项预算 2,400 万元（2028 年交付）。</a:t>
            </a:r>
            <a:endParaRPr sz="850" b="0">
              <a:solidFill>
                <a:srgbClr val="8B69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1024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预期成效</a:t>
            </a:r>
            <a:endParaRPr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1207008"/>
            <a:ext cx="50292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2084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建设前后对比</a:t>
            </a:r>
            <a:endParaRPr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766560" y="1691640"/>
            <a:ext cx="274320" cy="27432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1</a:t>
            </a:r>
            <a:endParaRPr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50608" y="1673352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数据贯通，一网共享</a:t>
            </a:r>
            <a:endParaRPr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50608" y="185623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建成区域大数据平台+CDR，终结"烟囱"时代，全区医疗机构病历、检验、影像、档案互联互通。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50608" y="2350008"/>
            <a:ext cx="4389120" cy="45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766560" y="2496312"/>
            <a:ext cx="274320" cy="27432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2</a:t>
            </a:r>
            <a:endParaRPr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50608" y="2478024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基层从"零"到"有"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50608" y="266090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133个村卫生室+8个乡镇首获电子病历、PACS、CDSS和AI辅助，基层诊疗能力质的飞跃。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150608" y="3154680"/>
            <a:ext cx="4389120" cy="45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66560" y="3300984"/>
            <a:ext cx="274320" cy="27432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3</a:t>
            </a:r>
            <a:endParaRPr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50608" y="3282696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区级达"5-4-3"标准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50608" y="346557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电子病历5级+互联互通四甲+智慧三星，跻身全省区县级医院第一梯队。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150608" y="3959352"/>
            <a:ext cx="4389120" cy="45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766560" y="4105656"/>
            <a:ext cx="274320" cy="27432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4</a:t>
            </a:r>
            <a:endParaRPr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50608" y="4087368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便民惠民全覆盖</a:t>
            </a:r>
            <a:endParaRPr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50608" y="42702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互联网医院、电子健康卡、统一预约/支付/查询，居民"一部手机管健康"。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150608" y="4764024"/>
            <a:ext cx="4389120" cy="45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766560" y="4910328"/>
            <a:ext cx="274320" cy="27432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5</a:t>
            </a:r>
            <a:endParaRPr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50608" y="4892040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AI赋能精准决策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50608" y="5074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AI病历质控+CDSS辅助+ChatBI卫健监管，从"经验驱动"到"数据驱动"。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C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乐山市沙湾区卫生健康局</a:t>
            </a:r>
            <a:endParaRPr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772400" y="64739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2026 年 6 月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2094</Words>
  <Application>WPS 演示</Application>
  <PresentationFormat>On-screen Show (4:3)</PresentationFormat>
  <Paragraphs>302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kilywan</cp:lastModifiedBy>
  <cp:revision>4</cp:revision>
  <dcterms:created xsi:type="dcterms:W3CDTF">2013-01-27T09:14:00Z</dcterms:created>
  <dcterms:modified xsi:type="dcterms:W3CDTF">2026-05-25T08:12:11Z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D69095EAC31642F3B9CF6186EA7BBDF9_12</vt:lpwstr>
  </property>
  <property fmtid="{D5CDD505-2E9C-101B-9397-08002B2CF9AE}" pid="3" name="KSOProductBuildVer">
    <vt:lpwstr>2052-12.1.0.26373</vt:lpwstr>
  </property>
</Properties>
</file>