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486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4864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71823" cy="5486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07040" y="256032"/>
            <a:ext cx="1097280" cy="2926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01 / 03</a:t>
            </a:r>
            <a:endParaRPr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为什么要建？</a:t>
            </a:r>
            <a:endParaRPr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乐山市沙湾区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数字城市市政公共服务信息化建设项目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政策要求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3429000" cy="96012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0080" y="1371600"/>
            <a:ext cx="36576" cy="9601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1444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国家层</a:t>
            </a:r>
            <a:endParaRPr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1691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数字经济规模 63.2 万亿，GDP 贡献率 66.45%；数据要素×三年行动覆盖 12 个重点领域；数字中国"2522"框架全面部署。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233672" y="1371600"/>
            <a:ext cx="3429000" cy="96012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33672" y="1371600"/>
            <a:ext cx="36576" cy="9601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16552" y="1444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四川省</a:t>
            </a:r>
            <a:endParaRPr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416552" y="1691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2027 年建成全省数字政府总体架构；智慧城市按"1+1+N"架构推进，市县两级全域数字化转型。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27264" y="1371600"/>
            <a:ext cx="3429000" cy="96012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827264" y="1371600"/>
            <a:ext cx="36576" cy="9601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10144" y="14447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乐山市</a:t>
            </a:r>
            <a:endParaRPr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10144" y="16916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智慧城市考核覆盖 10 大类 38 项指标，涵盖惠民服务、精准治理、生态宜居、数据安全等，对标全国文明城市标准。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" y="256032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现状痛点</a:t>
            </a:r>
            <a:endParaRPr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" y="2743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四大问题倒逼数字化转型</a:t>
            </a:r>
            <a:endParaRPr>
              <a:ea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0080" y="315468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645920" y="3291840"/>
            <a:ext cx="457200" cy="45720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1</a:t>
            </a:r>
            <a:endParaRPr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40" y="38862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治理手段单一</a:t>
            </a:r>
            <a:endParaRPr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251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传统模式效率低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人为差错率高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051560" y="4937760"/>
            <a:ext cx="1783080" cy="256032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健全全域感知</a:t>
            </a:r>
            <a:endParaRPr>
              <a:ea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383280" y="315468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389120" y="3291840"/>
            <a:ext cx="457200" cy="457200"/>
          </a:xfrm>
          <a:prstGeom prst="ellipse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2</a:t>
            </a:r>
            <a:endParaRPr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520440" y="38862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业务应用不足</a:t>
            </a:r>
            <a:endParaRPr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20440" y="4251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专项领域场景缺失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数字化覆盖低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794760" y="4937760"/>
            <a:ext cx="1783080" cy="25603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统筹融合应用</a:t>
            </a:r>
            <a:endParaRPr>
              <a:ea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126480" y="315468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7132320" y="3291840"/>
            <a:ext cx="457200" cy="457200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3</a:t>
            </a:r>
            <a:endParaRPr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263640" y="38862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数据底座薄弱</a:t>
            </a:r>
            <a:endParaRPr>
              <a:ea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63640" y="4251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系统"烟囱"林立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数据汇聚复用差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537960" y="4937760"/>
            <a:ext cx="1783080" cy="256032"/>
          </a:xfrm>
          <a:prstGeom prst="rect">
            <a:avLst/>
          </a:prstGeom>
          <a:solidFill>
            <a:srgbClr val="FDF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8B6914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统一数据底座</a:t>
            </a:r>
            <a:endParaRPr>
              <a:ea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869680" y="3154680"/>
            <a:ext cx="26060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9875520" y="3291840"/>
            <a:ext cx="457200" cy="45720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4</a:t>
            </a:r>
            <a:endParaRPr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006840" y="388620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跨部门协同难</a:t>
            </a:r>
            <a:endParaRPr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006840" y="4251960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信息流转不畅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指挥调度分散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281160" y="4937760"/>
            <a:ext cx="1783080" cy="256032"/>
          </a:xfrm>
          <a:prstGeom prst="rect">
            <a:avLst/>
          </a:prstGeom>
          <a:solidFill>
            <a:srgbClr val="FE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统一运营指挥</a:t>
            </a:r>
            <a:endParaRPr>
              <a:ea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C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乐山市沙湾区</a:t>
            </a:r>
            <a:endParaRPr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2026 年 5 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486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4864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71823" cy="5486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07040" y="256032"/>
            <a:ext cx="1097280" cy="2926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02 / 03</a:t>
            </a:r>
            <a:endParaRPr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怎么建？</a:t>
            </a:r>
            <a:endParaRPr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0372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乐山市沙湾区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数字城市市政公共服务信息化建设项目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总体思路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10881360" cy="438912"/>
          </a:xfrm>
          <a:prstGeom prst="rect">
            <a:avLst/>
          </a:prstGeom>
          <a:solidFill>
            <a:srgbClr val="F7F6F2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紧扣"</a:t>
            </a:r>
            <a:r>
              <a:rPr sz="1300" b="1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工业强区、农旅兴区</a:t>
            </a:r>
            <a:r>
              <a:rPr sz="13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"发展主线  →  </a:t>
            </a:r>
            <a:r>
              <a:rPr sz="1300" b="1">
                <a:solidFill>
                  <a:srgbClr val="B7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以产兴业</a:t>
            </a:r>
            <a:r>
              <a:rPr sz="13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强经济 · </a:t>
            </a:r>
            <a:r>
              <a:rPr sz="1300" b="1">
                <a:solidFill>
                  <a:srgbClr val="B7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以城赋能</a:t>
            </a:r>
            <a:r>
              <a:rPr sz="13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优治理 · </a:t>
            </a:r>
            <a:r>
              <a:rPr sz="1300" b="1">
                <a:solidFill>
                  <a:srgbClr val="B71C1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以人为本</a:t>
            </a:r>
            <a:r>
              <a:rPr sz="1300" b="0">
                <a:solidFill>
                  <a:srgbClr val="1A1A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惠民生</a:t>
            </a:r>
            <a:endParaRPr sz="1300" b="0">
              <a:solidFill>
                <a:srgbClr val="1A1A1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总体架构</a:t>
            </a:r>
            <a:endParaRPr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21488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"三层架构"支撑全域数字化转型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2560320"/>
            <a:ext cx="292608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0080" y="2560320"/>
            <a:ext cx="2926080" cy="32004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5877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主题应用层 — 三线并进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40680" y="2560320"/>
            <a:ext cx="46634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40680" y="2560320"/>
            <a:ext cx="4663440" cy="32004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532120" y="25877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数字大脑底座 — 五大核心能力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498080" y="2560320"/>
            <a:ext cx="329184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498080" y="2560320"/>
            <a:ext cx="3291840" cy="320040"/>
          </a:xfrm>
          <a:prstGeom prst="rect">
            <a:avLst/>
          </a:prstGeom>
          <a:solidFill>
            <a:srgbClr val="3A6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589520" y="258775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基础设施层 — 感知 + 承载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1520" y="3017520"/>
            <a:ext cx="2651760" cy="685800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产 · 数字经济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智慧文旅 / 智慧招商 / 经济运行态势监测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31520" y="3794760"/>
            <a:ext cx="2651760" cy="685800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城 · 数字政府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智慧交通 / 智慧应急 / 城市治理全域管控 / 应急指挥速处联防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31520" y="4572000"/>
            <a:ext cx="2651760" cy="685800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人 · 数字社会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智慧医疗 / 智慧教育 / 民生服务智慧保障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794760" y="3017520"/>
            <a:ext cx="4480560" cy="402336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1A1A1A"/>
                </a:solidFill>
                <a:ea typeface="微软雅黑" panose="020B0503020204020204" charset="-122"/>
                <a:cs typeface="微软雅黑" panose="020B0503020204020204" charset="-122"/>
              </a:rPr>
              <a:t>智能感知</a:t>
            </a:r>
            <a:r>
              <a:rPr sz="900" b="0">
                <a:solidFill>
                  <a:srgbClr val="555555"/>
                </a:solidFill>
                <a:ea typeface="微软雅黑" panose="020B0503020204020204" charset="-122"/>
                <a:cs typeface="微软雅黑" panose="020B0503020204020204" charset="-122"/>
              </a:rPr>
              <a:t>  — 视频融合 · 物联网平台</a:t>
            </a:r>
            <a:endParaRPr sz="900" b="0">
              <a:solidFill>
                <a:srgbClr val="555555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794760" y="3493008"/>
            <a:ext cx="4480560" cy="402336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1A1A1A"/>
                </a:solidFill>
                <a:ea typeface="微软雅黑" panose="020B0503020204020204" charset="-122"/>
                <a:cs typeface="微软雅黑" panose="020B0503020204020204" charset="-122"/>
              </a:rPr>
              <a:t>数据集成交换</a:t>
            </a:r>
            <a:r>
              <a:rPr sz="900" b="0">
                <a:solidFill>
                  <a:srgbClr val="555555"/>
                </a:solidFill>
                <a:ea typeface="微软雅黑" panose="020B0503020204020204" charset="-122"/>
                <a:cs typeface="微软雅黑" panose="020B0503020204020204" charset="-122"/>
              </a:rPr>
              <a:t>  — 数据治理 · 数据共享 · 统一数据出口</a:t>
            </a:r>
            <a:endParaRPr sz="900" b="0">
              <a:solidFill>
                <a:srgbClr val="555555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94760" y="3968496"/>
            <a:ext cx="4480560" cy="402336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1A1A1A"/>
                </a:solidFill>
                <a:ea typeface="微软雅黑" panose="020B0503020204020204" charset="-122"/>
                <a:cs typeface="微软雅黑" panose="020B0503020204020204" charset="-122"/>
              </a:rPr>
              <a:t>时空信息服务</a:t>
            </a:r>
            <a:r>
              <a:rPr sz="900" b="0">
                <a:solidFill>
                  <a:srgbClr val="555555"/>
                </a:solidFill>
                <a:ea typeface="微软雅黑" panose="020B0503020204020204" charset="-122"/>
                <a:cs typeface="微软雅黑" panose="020B0503020204020204" charset="-122"/>
              </a:rPr>
              <a:t>  — CIM 模型引擎 · 空天地数据管理</a:t>
            </a:r>
            <a:endParaRPr sz="900" b="0">
              <a:solidFill>
                <a:srgbClr val="555555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794760" y="4443984"/>
            <a:ext cx="4480560" cy="402336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1A1A1A"/>
                </a:solidFill>
                <a:ea typeface="微软雅黑" panose="020B0503020204020204" charset="-122"/>
                <a:cs typeface="微软雅黑" panose="020B0503020204020204" charset="-122"/>
              </a:rPr>
              <a:t>业务支撑平台</a:t>
            </a:r>
            <a:r>
              <a:rPr sz="900" b="0">
                <a:solidFill>
                  <a:srgbClr val="555555"/>
                </a:solidFill>
                <a:ea typeface="微软雅黑" panose="020B0503020204020204" charset="-122"/>
                <a:cs typeface="微软雅黑" panose="020B0503020204020204" charset="-122"/>
              </a:rPr>
              <a:t>  — API 管理 · 可视化 · 权限管理 · 能力开放</a:t>
            </a:r>
            <a:endParaRPr sz="900" b="0">
              <a:solidFill>
                <a:srgbClr val="555555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94760" y="4919472"/>
            <a:ext cx="4480560" cy="402336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0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sz="1000" b="1">
                <a:solidFill>
                  <a:srgbClr val="1A1A1A"/>
                </a:solidFill>
                <a:ea typeface="微软雅黑" panose="020B0503020204020204" charset="-122"/>
                <a:cs typeface="微软雅黑" panose="020B0503020204020204" charset="-122"/>
              </a:rPr>
              <a:t>智能服务中心</a:t>
            </a:r>
            <a:r>
              <a:rPr sz="900" b="0">
                <a:solidFill>
                  <a:srgbClr val="555555"/>
                </a:solidFill>
                <a:ea typeface="微软雅黑" panose="020B0503020204020204" charset="-122"/>
                <a:cs typeface="微软雅黑" panose="020B0503020204020204" charset="-122"/>
              </a:rPr>
              <a:t>  — 算法平台 · AI 服务 · AI 运营</a:t>
            </a:r>
            <a:endParaRPr sz="900" b="0">
              <a:solidFill>
                <a:srgbClr val="555555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595360" y="3017520"/>
            <a:ext cx="3108960" cy="960120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全域感知源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教育设施 · 交通视频图像感知源 · 智慧文旅机器人 ·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智慧管网感知源 · 环保感知源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595360" y="4114800"/>
            <a:ext cx="3108960" cy="960120"/>
          </a:xfrm>
          <a:prstGeom prst="rect">
            <a:avLst/>
          </a:prstGeom>
          <a:solidFill>
            <a:srgbClr val="F7F6F2"/>
          </a:solidFill>
          <a:ln w="63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运营管理中心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指挥大厅 · 计算资源 · 基础网络 · 机房配套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40080" y="5669280"/>
            <a:ext cx="10881360" cy="54864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最终目标：沙湾数字城市运营一网统管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CCCCC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"一屏观全域、一网管全城、一体指挥调度"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C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乐山市沙湾区</a:t>
            </a:r>
            <a:endParaRPr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2026 年 5 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59936" cy="54864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59936" y="0"/>
            <a:ext cx="4059936" cy="54864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119872" y="0"/>
            <a:ext cx="4071823" cy="54864"/>
          </a:xfrm>
          <a:prstGeom prst="rect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07040" y="256032"/>
            <a:ext cx="1097280" cy="29260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9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03 / 03</a:t>
            </a:r>
            <a:endParaRPr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3B66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花多少钱？值不值？</a:t>
            </a:r>
            <a:endParaRPr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49440" y="365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88888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乐山市沙湾区</a:t>
            </a:r>
            <a:br>
              <a:rPr>
                <a:ea typeface="微软雅黑" panose="020B0503020204020204" charset="-122"/>
                <a:cs typeface="微软雅黑" panose="020B0503020204020204" charset="-122"/>
              </a:rPr>
            </a:br>
            <a:r>
              <a:rPr>
                <a:ea typeface="微软雅黑" panose="020B0503020204020204" charset="-122"/>
                <a:cs typeface="微软雅黑" panose="020B0503020204020204" charset="-122"/>
              </a:rPr>
              <a:t>数字城市市政公共服务信息化建设项目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10881360" cy="18288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投资概览</a:t>
            </a:r>
            <a:endParaRPr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29844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总投资 1.39 亿元，已设计 7,210 万元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" y="1691640"/>
          <a:ext cx="64008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46304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建设内容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原初设（万元）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已设计（万元）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数字城市业务支撑平台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1,656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—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数字沙湾运营平台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308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—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智慧教育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1,846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2,508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智慧医疗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2,690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—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应急指挥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—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150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云网租赁费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3,431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2,251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AFAF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系统集成费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496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1A"/>
                          </a:solidFill>
                          <a:latin typeface="微软雅黑" panose="020B0503020204020204" charset="-122"/>
                        </a:defRPr>
                      </a:pPr>
                      <a:r>
                        <a:rPr>
                          <a:ea typeface="微软雅黑" panose="020B0503020204020204" charset="-122"/>
                        </a:rPr>
                        <a:t>185</a:t>
                      </a:r>
                      <a:endParaRPr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0080" y="4032504"/>
            <a:ext cx="6400800" cy="292608"/>
          </a:xfrm>
          <a:prstGeom prst="rect">
            <a:avLst/>
          </a:prstGeom>
          <a:solidFill>
            <a:srgbClr val="F5F2EA"/>
          </a:solidFill>
          <a:ln w="19050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4050792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合计</a:t>
            </a:r>
            <a:endParaRPr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23360" y="4050792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13,851</a:t>
            </a:r>
            <a:endParaRPr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40680" y="405079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7,210</a:t>
            </a:r>
            <a:endParaRPr>
              <a:ea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40080" y="4443984"/>
            <a:ext cx="6217920" cy="411480"/>
          </a:xfrm>
          <a:prstGeom prst="rect">
            <a:avLst/>
          </a:prstGeom>
          <a:solidFill>
            <a:srgbClr val="FEFCF5"/>
          </a:solidFill>
          <a:ln w="6350">
            <a:solidFill>
              <a:srgbClr val="E5D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0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 sz="900" b="1">
                <a:solidFill>
                  <a:srgbClr val="8B6914"/>
                </a:solidFill>
                <a:ea typeface="微软雅黑" panose="020B0503020204020204" charset="-122"/>
                <a:cs typeface="微软雅黑" panose="020B0503020204020204" charset="-122"/>
              </a:rPr>
              <a:t>变动说明：</a:t>
            </a:r>
            <a:r>
              <a:rPr sz="900" b="0">
                <a:solidFill>
                  <a:srgbClr val="8B6914"/>
                </a:solidFill>
                <a:ea typeface="微软雅黑" panose="020B0503020204020204" charset="-122"/>
                <a:cs typeface="微软雅黑" panose="020B0503020204020204" charset="-122"/>
              </a:rPr>
              <a:t>智慧交通较初设缩减 </a:t>
            </a:r>
            <a:r>
              <a:rPr sz="900" b="1">
                <a:solidFill>
                  <a:srgbClr val="8B6914"/>
                </a:solidFill>
                <a:ea typeface="微软雅黑" panose="020B0503020204020204" charset="-122"/>
                <a:cs typeface="微软雅黑" panose="020B0503020204020204" charset="-122"/>
              </a:rPr>
              <a:t>36.8%</a:t>
            </a:r>
            <a:r>
              <a:rPr sz="900" b="0">
                <a:solidFill>
                  <a:srgbClr val="8B6914"/>
                </a:solidFill>
                <a:ea typeface="微软雅黑" panose="020B0503020204020204" charset="-122"/>
                <a:cs typeface="微软雅黑" panose="020B0503020204020204" charset="-122"/>
              </a:rPr>
              <a:t>；智慧教育增加 </a:t>
            </a:r>
            <a:r>
              <a:rPr sz="900" b="1">
                <a:solidFill>
                  <a:srgbClr val="8B6914"/>
                </a:solidFill>
                <a:ea typeface="微软雅黑" panose="020B0503020204020204" charset="-122"/>
                <a:cs typeface="微软雅黑" panose="020B0503020204020204" charset="-122"/>
              </a:rPr>
              <a:t>35.9%</a:t>
            </a:r>
            <a:r>
              <a:rPr sz="900" b="0">
                <a:solidFill>
                  <a:srgbClr val="8B6914"/>
                </a:solidFill>
                <a:ea typeface="微软雅黑" panose="020B0503020204020204" charset="-122"/>
                <a:cs typeface="微软雅黑" panose="020B0503020204020204" charset="-122"/>
              </a:rPr>
              <a:t>（询价中）。部分超概项需进一步询价、核减规模。</a:t>
            </a:r>
            <a:endParaRPr sz="900" b="0">
              <a:solidFill>
                <a:srgbClr val="8B6914"/>
              </a:solidFill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0" y="109728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71C1C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预期成效</a:t>
            </a:r>
            <a:endParaRPr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0" y="12984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三维价值回报</a:t>
            </a:r>
            <a:endParaRPr>
              <a:ea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315200" y="1828800"/>
            <a:ext cx="365760" cy="36576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1</a:t>
            </a:r>
            <a:endParaRPr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18120" y="18105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治理效能升级</a:t>
            </a:r>
            <a:endParaRPr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18120" y="208483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"大综治"模式落地，全域感知 + 数据驱动决策，城市事件从被动响应转向主动预警，一网统管提效。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818120" y="2926080"/>
            <a:ext cx="3931920" cy="45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315200" y="3200400"/>
            <a:ext cx="365760" cy="36576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2</a:t>
            </a:r>
            <a:endParaRPr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18120" y="31821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产业数字赋能</a:t>
            </a:r>
            <a:endParaRPr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8120" y="345643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贯通工业、农业、文旅三大产业链，以数据要素流通带动招商提效、经济态势可测、产业竞争力提升。</a:t>
            </a:r>
            <a:endParaRPr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818120" y="4297680"/>
            <a:ext cx="3931920" cy="457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315200" y="4572000"/>
            <a:ext cx="365760" cy="365760"/>
          </a:xfrm>
          <a:prstGeom prst="ellipse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3</a:t>
            </a:r>
            <a:endParaRPr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18120" y="45537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民生普惠提质</a:t>
            </a:r>
            <a:endParaRPr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818120" y="4828032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智慧医疗、智慧教育覆盖全域，数字化服务均等化，切实增强居民获得感与满意度。</a:t>
            </a:r>
            <a:endParaRPr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40080" y="6446520"/>
            <a:ext cx="10881360" cy="9144"/>
          </a:xfrm>
          <a:prstGeom prst="rect">
            <a:avLst/>
          </a:prstGeom>
          <a:solidFill>
            <a:srgbClr val="ECE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</a:rPr>
              <a:t>乐山市沙湾区</a:t>
            </a:r>
            <a:endParaRPr>
              <a:ea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772400" y="64739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AAAAAA"/>
                </a:solidFill>
                <a:latin typeface="微软雅黑" panose="020B0503020204020204" charset="-122"/>
              </a:defRPr>
            </a:pPr>
            <a:r>
              <a:rPr>
                <a:ea typeface="微软雅黑" panose="020B0503020204020204" charset="-122"/>
                <a:cs typeface="微软雅黑" panose="020B0503020204020204" charset="-122"/>
              </a:rPr>
              <a:t>2026 年 5 月</a:t>
            </a:r>
            <a:endParaRPr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1310</Words>
  <Application>WPS 演示</Application>
  <PresentationFormat>On-screen Show (4:3)</PresentationFormat>
  <Paragraphs>204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kilywan</cp:lastModifiedBy>
  <cp:revision>2</cp:revision>
  <dcterms:created xsi:type="dcterms:W3CDTF">2013-01-27T09:14:00Z</dcterms:created>
  <dcterms:modified xsi:type="dcterms:W3CDTF">2026-05-25T06:56:10Z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9B5448B1B5AF4696A010F943FDC7288E_12</vt:lpwstr>
  </property>
  <property fmtid="{D5CDD505-2E9C-101B-9397-08002B2CF9AE}" pid="3" name="KSOProductBuildVer">
    <vt:lpwstr>2052-12.1.0.26373</vt:lpwstr>
  </property>
</Properties>
</file>